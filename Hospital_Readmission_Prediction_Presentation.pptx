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Predicting Hospital Readmission Risk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Comparative Study of Classical and Ensemble Models</a:t>
            </a:r>
          </a:p>
          <a:p/>
          <a:p>
            <a:r>
              <a:t>Adele Chinda, Oumar Diallo, Yusuf Mumin</a:t>
            </a:r>
          </a:p>
          <a:p>
            <a:r>
              <a:t>Georgia State University</a:t>
            </a:r>
          </a:p>
          <a:p>
            <a:r>
              <a:t>Data Mining Project</a:t>
            </a:r>
          </a:p>
          <a:p>
            <a:r>
              <a:t>November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Hospital readmissions are costly and often preventable</a:t>
            </a:r>
          </a:p>
          <a:p>
            <a:pPr>
              <a:spcAft>
                <a:spcPts val="1200"/>
              </a:spcAft>
              <a:defRPr sz="1800"/>
            </a:pPr>
            <a:r>
              <a:t>30-day readmission rates are a key quality metric for healthcare</a:t>
            </a:r>
          </a:p>
          <a:p>
            <a:pPr>
              <a:spcAft>
                <a:spcPts val="1200"/>
              </a:spcAft>
              <a:defRPr sz="1800"/>
            </a:pPr>
            <a:r>
              <a:t>Challenge: Predict which patients are at high risk of readmission</a:t>
            </a:r>
          </a:p>
          <a:p>
            <a:pPr>
              <a:spcAft>
                <a:spcPts val="1200"/>
              </a:spcAft>
              <a:defRPr sz="1800"/>
            </a:pPr>
            <a:r>
              <a:t>Goal: Enable early intervention and reduce readmission rates</a:t>
            </a:r>
          </a:p>
          <a:p>
            <a:pPr>
              <a:spcAft>
                <a:spcPts val="1200"/>
              </a:spcAft>
              <a:defRPr sz="1800"/>
            </a:pPr>
            <a:r>
              <a:t>Dataset: 100,000+ hospital admissions from diabetes patients (1999-2008)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Build a reproducible ML pipeline for readmission prediction</a:t>
            </a:r>
          </a:p>
          <a:p>
            <a:pPr>
              <a:spcAft>
                <a:spcPts val="1200"/>
              </a:spcAft>
              <a:defRPr sz="1800"/>
            </a:pPr>
            <a:r>
              <a:t>Compare multiple modeling approaches:</a:t>
            </a:r>
          </a:p>
          <a:p>
            <a:pPr>
              <a:spcAft>
                <a:spcPts val="1200"/>
              </a:spcAft>
              <a:defRPr sz="1800"/>
            </a:pPr>
            <a:r>
              <a:t>   • Logistic Regression (interpretable baseline)</a:t>
            </a:r>
          </a:p>
          <a:p>
            <a:pPr>
              <a:spcAft>
                <a:spcPts val="1200"/>
              </a:spcAft>
              <a:defRPr sz="1800"/>
            </a:pPr>
            <a:r>
              <a:t>   • Multilayer Perceptron (nonlinear neural network)</a:t>
            </a:r>
          </a:p>
          <a:p>
            <a:pPr>
              <a:spcAft>
                <a:spcPts val="1200"/>
              </a:spcAft>
              <a:defRPr sz="1800"/>
            </a:pPr>
            <a:r>
              <a:t>   • XGBoost (ensemble tree boosting)</a:t>
            </a:r>
          </a:p>
          <a:p>
            <a:pPr>
              <a:spcAft>
                <a:spcPts val="1200"/>
              </a:spcAft>
              <a:defRPr sz="1800"/>
            </a:pPr>
            <a:r>
              <a:t>Address class imbalance using SMOTE</a:t>
            </a:r>
          </a:p>
          <a:p>
            <a:pPr>
              <a:spcAft>
                <a:spcPts val="1200"/>
              </a:spcAft>
              <a:defRPr sz="1800"/>
            </a:pPr>
            <a:r>
              <a:t>Evaluate trade-offs between interpretability and performance</a:t>
            </a:r>
          </a:p>
          <a:p>
            <a:pPr>
              <a:spcAft>
                <a:spcPts val="1200"/>
              </a:spcAft>
              <a:defRPr sz="1800"/>
            </a:pPr>
            <a:r>
              <a:t>Identify key predictive features for clinical insight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📊 Source:</a:t>
            </a:r>
          </a:p>
          <a:p>
            <a:pPr>
              <a:spcAft>
                <a:spcPts val="800"/>
              </a:spcAft>
              <a:defRPr sz="1600"/>
            </a:pPr>
            <a:r>
              <a:t>UCI Diabetes 130-US Hospitals</a:t>
            </a:r>
          </a:p>
          <a:p>
            <a:pPr>
              <a:spcAft>
                <a:spcPts val="800"/>
              </a:spcAft>
              <a:defRPr sz="1600"/>
            </a:pPr>
            <a:r>
              <a:t>(1999-2008)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📈 Size:</a:t>
            </a:r>
          </a:p>
          <a:p>
            <a:pPr>
              <a:spcAft>
                <a:spcPts val="800"/>
              </a:spcAft>
              <a:defRPr sz="1600"/>
            </a:pPr>
            <a:r>
              <a:t>~100,000 hospital admissions</a:t>
            </a:r>
          </a:p>
          <a:p>
            <a:pPr>
              <a:spcAft>
                <a:spcPts val="800"/>
              </a:spcAft>
              <a:defRPr sz="1600"/>
            </a:pPr>
            <a:r>
              <a:t>50+ features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🎯 Target Variable:</a:t>
            </a:r>
          </a:p>
          <a:p>
            <a:pPr>
              <a:spcAft>
                <a:spcPts val="800"/>
              </a:spcAft>
              <a:defRPr sz="1600"/>
            </a:pPr>
            <a:r>
              <a:t>Readmitted within 30 days</a:t>
            </a:r>
          </a:p>
          <a:p>
            <a:pPr>
              <a:spcAft>
                <a:spcPts val="800"/>
              </a:spcAft>
              <a:defRPr sz="1600"/>
            </a:pPr>
            <a:r>
              <a:t>(Binary classification)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⚖️ Class Imbalance:</a:t>
            </a:r>
          </a:p>
          <a:p>
            <a:pPr>
              <a:spcAft>
                <a:spcPts val="800"/>
              </a:spcAft>
              <a:defRPr sz="1600"/>
            </a:pPr>
            <a:r>
              <a:t>~11% positive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📋 Feature Categories: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Demographics</a:t>
            </a:r>
          </a:p>
          <a:p>
            <a:pPr>
              <a:spcAft>
                <a:spcPts val="800"/>
              </a:spcAft>
              <a:defRPr sz="1600"/>
            </a:pPr>
            <a:r>
              <a:t>  - Age, gender, race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Clinical History</a:t>
            </a:r>
          </a:p>
          <a:p>
            <a:pPr>
              <a:spcAft>
                <a:spcPts val="800"/>
              </a:spcAft>
              <a:defRPr sz="1600"/>
            </a:pPr>
            <a:r>
              <a:t>  - Diagnoses (ICD-9)</a:t>
            </a:r>
          </a:p>
          <a:p>
            <a:pPr>
              <a:spcAft>
                <a:spcPts val="800"/>
              </a:spcAft>
              <a:defRPr sz="1600"/>
            </a:pPr>
            <a:r>
              <a:t>  - Comorbidities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Visit Details</a:t>
            </a:r>
          </a:p>
          <a:p>
            <a:pPr>
              <a:spcAft>
                <a:spcPts val="800"/>
              </a:spcAft>
              <a:defRPr sz="1600"/>
            </a:pPr>
            <a:r>
              <a:t>  - Time in hospital</a:t>
            </a:r>
          </a:p>
          <a:p>
            <a:pPr>
              <a:spcAft>
                <a:spcPts val="800"/>
              </a:spcAft>
              <a:defRPr sz="1600"/>
            </a:pPr>
            <a:r>
              <a:t>  - Number of procedures</a:t>
            </a:r>
          </a:p>
          <a:p>
            <a:pPr>
              <a:spcAft>
                <a:spcPts val="800"/>
              </a:spcAft>
              <a:defRPr sz="1600"/>
            </a:pPr>
            <a:r>
              <a:t>  - Lab tests performed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Medications</a:t>
            </a:r>
          </a:p>
          <a:p>
            <a:pPr>
              <a:spcAft>
                <a:spcPts val="800"/>
              </a:spcAft>
              <a:defRPr sz="1600"/>
            </a:pPr>
            <a:r>
              <a:t>  - Drug prescriptions</a:t>
            </a:r>
          </a:p>
          <a:p>
            <a:pPr>
              <a:spcAft>
                <a:spcPts val="800"/>
              </a:spcAft>
              <a:defRPr sz="1600"/>
            </a:pPr>
            <a:r>
              <a:t>  - Insulin usage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Data 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1. Data Cleaning</a:t>
            </a:r>
          </a:p>
          <a:p>
            <a:pPr>
              <a:spcAft>
                <a:spcPts val="1200"/>
              </a:spcAft>
              <a:defRPr sz="1800"/>
            </a:pPr>
            <a:r>
              <a:t>   • Handle missing values (imputation and removal)</a:t>
            </a:r>
          </a:p>
          <a:p>
            <a:pPr>
              <a:spcAft>
                <a:spcPts val="1200"/>
              </a:spcAft>
              <a:defRPr sz="1800"/>
            </a:pPr>
            <a:r>
              <a:t>   • Remove low-variance and irrelevant features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2. Feature Engineering</a:t>
            </a:r>
          </a:p>
          <a:p>
            <a:pPr>
              <a:spcAft>
                <a:spcPts val="1200"/>
              </a:spcAft>
              <a:defRPr sz="1800"/>
            </a:pPr>
            <a:r>
              <a:t>   • Encode categorical variables (one-hot, label encoding)</a:t>
            </a:r>
          </a:p>
          <a:p>
            <a:pPr>
              <a:spcAft>
                <a:spcPts val="1200"/>
              </a:spcAft>
              <a:defRPr sz="1800"/>
            </a:pPr>
            <a:r>
              <a:t>   • Create derived features (total visits, medication counts)</a:t>
            </a:r>
          </a:p>
          <a:p>
            <a:pPr>
              <a:spcAft>
                <a:spcPts val="1200"/>
              </a:spcAft>
              <a:defRPr sz="1800"/>
            </a:pPr>
            <a:r>
              <a:t>   • Scale numerical features (StandardScaler)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3. Feature Selection</a:t>
            </a:r>
          </a:p>
          <a:p>
            <a:pPr>
              <a:spcAft>
                <a:spcPts val="1200"/>
              </a:spcAft>
              <a:defRPr sz="1800"/>
            </a:pPr>
            <a:r>
              <a:t>   • XGBoost feature importance analysis</a:t>
            </a:r>
          </a:p>
          <a:p>
            <a:pPr>
              <a:spcAft>
                <a:spcPts val="1200"/>
              </a:spcAft>
              <a:defRPr sz="1800"/>
            </a:pPr>
            <a:r>
              <a:t>   • Select top 100 most predictive features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4. Imbalance Handling</a:t>
            </a:r>
          </a:p>
          <a:p>
            <a:pPr>
              <a:spcAft>
                <a:spcPts val="1200"/>
              </a:spcAft>
              <a:defRPr sz="1800"/>
            </a:pPr>
            <a:r>
              <a:t>   • Apply SMOTE (Synthetic Minority Over-sampling Technique)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Modeling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🔵 Logistic Regression</a:t>
            </a:r>
          </a:p>
          <a:p>
            <a:pPr>
              <a:spcAft>
                <a:spcPts val="800"/>
              </a:spcAft>
              <a:defRPr sz="1600"/>
            </a:pPr>
            <a:r>
              <a:t>• Linear model with L2 regularization</a:t>
            </a:r>
          </a:p>
          <a:p>
            <a:pPr>
              <a:spcAft>
                <a:spcPts val="800"/>
              </a:spcAft>
              <a:defRPr sz="1600"/>
            </a:pPr>
            <a:r>
              <a:t>• Interpretable coefficients</a:t>
            </a:r>
          </a:p>
          <a:p>
            <a:pPr>
              <a:spcAft>
                <a:spcPts val="800"/>
              </a:spcAft>
              <a:defRPr sz="1600"/>
            </a:pPr>
            <a:r>
              <a:t>• Baseline performance</a:t>
            </a:r>
          </a:p>
          <a:p>
            <a:pPr>
              <a:spcAft>
                <a:spcPts val="800"/>
              </a:spcAft>
              <a:defRPr sz="1600"/>
            </a:pPr>
            <a:r>
              <a:t>• Log-odds ratios for features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🟢 Multilayer Perceptron</a:t>
            </a:r>
          </a:p>
          <a:p>
            <a:pPr>
              <a:spcAft>
                <a:spcPts val="800"/>
              </a:spcAft>
              <a:defRPr sz="1600"/>
            </a:pPr>
            <a:r>
              <a:t>• 2 hidden layers (64, 32 units)</a:t>
            </a:r>
          </a:p>
          <a:p>
            <a:pPr>
              <a:spcAft>
                <a:spcPts val="800"/>
              </a:spcAft>
              <a:defRPr sz="1600"/>
            </a:pPr>
            <a:r>
              <a:t>• ReLU activation</a:t>
            </a:r>
          </a:p>
          <a:p>
            <a:pPr>
              <a:spcAft>
                <a:spcPts val="800"/>
              </a:spcAft>
              <a:defRPr sz="1600"/>
            </a:pPr>
            <a:r>
              <a:t>• Captures nonlinear patterns</a:t>
            </a:r>
          </a:p>
          <a:p>
            <a:pPr>
              <a:spcAft>
                <a:spcPts val="800"/>
              </a:spcAft>
              <a:defRPr sz="1600"/>
            </a:pPr>
            <a:r>
              <a:t>• Early stopping for regularization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🟠 XGBoost</a:t>
            </a:r>
          </a:p>
          <a:p>
            <a:pPr>
              <a:spcAft>
                <a:spcPts val="800"/>
              </a:spcAft>
              <a:defRPr sz="1600"/>
            </a:pPr>
            <a:r>
              <a:t>• Gradient boosted decision trees</a:t>
            </a:r>
          </a:p>
          <a:p>
            <a:pPr>
              <a:spcAft>
                <a:spcPts val="800"/>
              </a:spcAft>
              <a:defRPr sz="1600"/>
            </a:pPr>
            <a:r>
              <a:t>• Handles missing values natively</a:t>
            </a:r>
          </a:p>
          <a:p>
            <a:pPr>
              <a:spcAft>
                <a:spcPts val="800"/>
              </a:spcAft>
              <a:defRPr sz="1600"/>
            </a:pPr>
            <a:r>
              <a:t>• Built-in feature importance</a:t>
            </a:r>
          </a:p>
          <a:p>
            <a:pPr>
              <a:spcAft>
                <a:spcPts val="800"/>
              </a:spcAft>
              <a:defRPr sz="1600"/>
            </a:pPr>
            <a:r>
              <a:t>• Class weighting for imbalance</a:t>
            </a:r>
          </a:p>
          <a:p>
            <a:pPr>
              <a:spcAft>
                <a:spcPts val="800"/>
              </a:spcAft>
              <a:defRPr sz="1600"/>
            </a:pPr>
            <a:r>
              <a:t>• Regularization parameters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⚙️ Training Strategy</a:t>
            </a:r>
          </a:p>
          <a:p>
            <a:pPr>
              <a:spcAft>
                <a:spcPts val="800"/>
              </a:spcAft>
              <a:defRPr sz="1600"/>
            </a:pPr>
            <a:r>
              <a:t>• 80/20 train-test split</a:t>
            </a:r>
          </a:p>
          <a:p>
            <a:pPr>
              <a:spcAft>
                <a:spcPts val="800"/>
              </a:spcAft>
              <a:defRPr sz="1600"/>
            </a:pPr>
            <a:r>
              <a:t>• Cross-validation</a:t>
            </a:r>
          </a:p>
          <a:p>
            <a:pPr>
              <a:spcAft>
                <a:spcPts val="800"/>
              </a:spcAft>
              <a:defRPr sz="1600"/>
            </a:pPr>
            <a:r>
              <a:t>• Hyperparameter tuning</a:t>
            </a:r>
          </a:p>
          <a:p>
            <a:pPr>
              <a:spcAft>
                <a:spcPts val="800"/>
              </a:spcAft>
              <a:defRPr sz="1600"/>
            </a:pPr>
            <a:r>
              <a:t>• Threshold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Model Formulations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Logistic Regression:</a:t>
            </a:r>
          </a:p>
          <a:p>
            <a:pPr>
              <a:spcAft>
                <a:spcPts val="1200"/>
              </a:spcAft>
              <a:defRPr sz="1800"/>
            </a:pPr>
            <a:r>
              <a:t>   P(Y=1|x) = σ(w^T x + b)</a:t>
            </a:r>
          </a:p>
          <a:p>
            <a:pPr>
              <a:spcAft>
                <a:spcPts val="1200"/>
              </a:spcAft>
              <a:defRPr sz="1800"/>
            </a:pPr>
            <a:r>
              <a:t>   Loss = -1/N Σ[y log ŷ + (1-y)log(1-ŷ)] + λ||w||²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MLP Architecture:</a:t>
            </a:r>
          </a:p>
          <a:p>
            <a:pPr>
              <a:spcAft>
                <a:spcPts val="1200"/>
              </a:spcAft>
              <a:defRPr sz="1800"/>
            </a:pPr>
            <a:r>
              <a:t>   h₁ = ReLU(W₁x + b₁)</a:t>
            </a:r>
          </a:p>
          <a:p>
            <a:pPr>
              <a:spcAft>
                <a:spcPts val="1200"/>
              </a:spcAft>
              <a:defRPr sz="1800"/>
            </a:pPr>
            <a:r>
              <a:t>   h₂ = ReLU(W₂h₁ + b₂)</a:t>
            </a:r>
          </a:p>
          <a:p>
            <a:pPr>
              <a:spcAft>
                <a:spcPts val="1200"/>
              </a:spcAft>
              <a:defRPr sz="1800"/>
            </a:pPr>
            <a:r>
              <a:t>   ŷ = σ(W₃h₂ + b₃)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XGBoost Objective:</a:t>
            </a:r>
          </a:p>
          <a:p>
            <a:pPr>
              <a:spcAft>
                <a:spcPts val="1200"/>
              </a:spcAft>
              <a:defRPr sz="1800"/>
            </a:pPr>
            <a:r>
              <a:t>   L = Σ l(yᵢ, ŷᵢ) + Σ Ω(fₖ)</a:t>
            </a:r>
          </a:p>
          <a:p>
            <a:pPr>
              <a:spcAft>
                <a:spcPts val="1200"/>
              </a:spcAft>
              <a:defRPr sz="1800"/>
            </a:pPr>
            <a:r>
              <a:t>   Ω(f) = γT + ½λ||w||²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Handling Class Imbalance: SMOTE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Challenge: Only 11% of admissions result in readmission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SMOTE (Synthetic Minority Over-sampling Technique):</a:t>
            </a:r>
          </a:p>
          <a:p>
            <a:pPr>
              <a:spcAft>
                <a:spcPts val="1200"/>
              </a:spcAft>
              <a:defRPr sz="1800"/>
            </a:pPr>
            <a:r>
              <a:t>   • Creates synthetic minority class samples</a:t>
            </a:r>
          </a:p>
          <a:p>
            <a:pPr>
              <a:spcAft>
                <a:spcPts val="1200"/>
              </a:spcAft>
              <a:defRPr sz="1800"/>
            </a:pPr>
            <a:r>
              <a:t>   • Interpolates between existing minority instances</a:t>
            </a:r>
          </a:p>
          <a:p>
            <a:pPr>
              <a:spcAft>
                <a:spcPts val="1200"/>
              </a:spcAft>
              <a:defRPr sz="1800"/>
            </a:pPr>
            <a:r>
              <a:t>   • x_new = xᵢ + α(xⱼ - xᵢ), where α ~ U(0,1)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Benefits:</a:t>
            </a:r>
          </a:p>
          <a:p>
            <a:pPr>
              <a:spcAft>
                <a:spcPts val="1200"/>
              </a:spcAft>
              <a:defRPr sz="1800"/>
            </a:pPr>
            <a:r>
              <a:t>   • Balances training data</a:t>
            </a:r>
          </a:p>
          <a:p>
            <a:pPr>
              <a:spcAft>
                <a:spcPts val="1200"/>
              </a:spcAft>
              <a:defRPr sz="1800"/>
            </a:pPr>
            <a:r>
              <a:t>   • Improves model sensitivity to minority class</a:t>
            </a:r>
          </a:p>
          <a:p>
            <a:pPr>
              <a:spcAft>
                <a:spcPts val="1200"/>
              </a:spcAft>
              <a:defRPr sz="1800"/>
            </a:pPr>
            <a:r>
              <a:t>   • Prevents overfitting compared to simple oversampling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Implementation:</a:t>
            </a:r>
          </a:p>
          <a:p>
            <a:pPr>
              <a:spcAft>
                <a:spcPts val="1200"/>
              </a:spcAft>
              <a:defRPr sz="1800"/>
            </a:pPr>
            <a:r>
              <a:t>   • Applied only to training set</a:t>
            </a:r>
          </a:p>
          <a:p>
            <a:pPr>
              <a:spcAft>
                <a:spcPts val="1200"/>
              </a:spcAft>
              <a:defRPr sz="1800"/>
            </a:pPr>
            <a:r>
              <a:t>   • Test set remains unchanged for fair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📊 Primary Metrics: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ROC AUC</a:t>
            </a:r>
          </a:p>
          <a:p>
            <a:pPr>
              <a:spcAft>
                <a:spcPts val="800"/>
              </a:spcAft>
              <a:defRPr sz="1600"/>
            </a:pPr>
            <a:r>
              <a:t>  Discriminative ability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Precision-Recall AUC</a:t>
            </a:r>
          </a:p>
          <a:p>
            <a:pPr>
              <a:spcAft>
                <a:spcPts val="800"/>
              </a:spcAft>
              <a:defRPr sz="1600"/>
            </a:pPr>
            <a:r>
              <a:t>  Performance on imbalanced data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Precision</a:t>
            </a:r>
          </a:p>
          <a:p>
            <a:pPr>
              <a:spcAft>
                <a:spcPts val="800"/>
              </a:spcAft>
              <a:defRPr sz="1600"/>
            </a:pPr>
            <a:r>
              <a:t>  Accuracy of positive predictions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Recall (Sensitivity)</a:t>
            </a:r>
          </a:p>
          <a:p>
            <a:pPr>
              <a:spcAft>
                <a:spcPts val="800"/>
              </a:spcAft>
              <a:defRPr sz="1600"/>
            </a:pPr>
            <a:r>
              <a:t>  Coverage of actual positives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F1 Score</a:t>
            </a:r>
          </a:p>
          <a:p>
            <a:pPr>
              <a:spcAft>
                <a:spcPts val="800"/>
              </a:spcAft>
              <a:defRPr sz="1600"/>
            </a:pPr>
            <a:r>
              <a:t>  Harmonic mean of precision/recall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🎯 Why Multiple Metrics?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ROC AUC can be misleading</a:t>
            </a:r>
          </a:p>
          <a:p>
            <a:pPr>
              <a:spcAft>
                <a:spcPts val="800"/>
              </a:spcAft>
              <a:defRPr sz="1600"/>
            </a:pPr>
            <a:r>
              <a:t>  on imbalanced datasets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PR AUC better reflects</a:t>
            </a:r>
          </a:p>
          <a:p>
            <a:pPr>
              <a:spcAft>
                <a:spcPts val="800"/>
              </a:spcAft>
              <a:defRPr sz="1600"/>
            </a:pPr>
            <a:r>
              <a:t>  minority class performance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Clinical context matters:</a:t>
            </a:r>
          </a:p>
          <a:p>
            <a:pPr>
              <a:spcAft>
                <a:spcPts val="800"/>
              </a:spcAft>
              <a:defRPr sz="1600"/>
            </a:pPr>
            <a:r>
              <a:t>  - High recall: Don't miss at-risk</a:t>
            </a:r>
          </a:p>
          <a:p>
            <a:pPr>
              <a:spcAft>
                <a:spcPts val="800"/>
              </a:spcAft>
              <a:defRPr sz="1600"/>
            </a:pPr>
            <a:r>
              <a:t>    patients (false negatives costly)</a:t>
            </a:r>
          </a:p>
          <a:p>
            <a:pPr>
              <a:spcAft>
                <a:spcPts val="800"/>
              </a:spcAft>
              <a:defRPr sz="1600"/>
            </a:pPr>
            <a:r>
              <a:t>  - High precision: Avoid</a:t>
            </a:r>
          </a:p>
          <a:p>
            <a:pPr>
              <a:spcAft>
                <a:spcPts val="800"/>
              </a:spcAft>
              <a:defRPr sz="1600"/>
            </a:pPr>
            <a:r>
              <a:t>    unnecessary interventions</a:t>
            </a:r>
          </a:p>
          <a:p>
            <a:pPr>
              <a:spcAft>
                <a:spcPts val="800"/>
              </a:spcAft>
              <a:defRPr sz="1600"/>
            </a:pPr>
            <a:r>
              <a:t>    (false positives wasteful)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Threshold tuning allows</a:t>
            </a:r>
          </a:p>
          <a:p>
            <a:pPr>
              <a:spcAft>
                <a:spcPts val="800"/>
              </a:spcAft>
              <a:defRPr sz="1600"/>
            </a:pPr>
            <a:r>
              <a:t>  customization to priorities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Model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┌─────────────────────┬─────────┬─────────┬───────────┬────────┬──────┐</a:t>
            </a:r>
          </a:p>
          <a:p>
            <a:pPr>
              <a:spcAft>
                <a:spcPts val="1200"/>
              </a:spcAft>
              <a:defRPr sz="1800"/>
            </a:pPr>
            <a:r>
              <a:t>│ Model               │ ROC AUC │ PR AUC  │ Precision │ Recall │  F1  │</a:t>
            </a:r>
          </a:p>
          <a:p>
            <a:pPr>
              <a:spcAft>
                <a:spcPts val="1200"/>
              </a:spcAft>
              <a:defRPr sz="1800"/>
            </a:pPr>
            <a:r>
              <a:t>├─────────────────────┼─────────┼─────────┼───────────┼────────┼──────┤</a:t>
            </a:r>
          </a:p>
          <a:p>
            <a:pPr>
              <a:spcAft>
                <a:spcPts val="1200"/>
              </a:spcAft>
              <a:defRPr sz="1800"/>
            </a:pPr>
            <a:r>
              <a:t>│ Logistic Regression │  0.56   │  0.35   │   0.89    │  0.97  │ 0.93 │</a:t>
            </a:r>
          </a:p>
          <a:p>
            <a:pPr>
              <a:spcAft>
                <a:spcPts val="1200"/>
              </a:spcAft>
              <a:defRPr sz="1800"/>
            </a:pPr>
            <a:r>
              <a:t>├─────────────────────┼─────────┼─────────┼───────────┼────────┼──────┤</a:t>
            </a:r>
          </a:p>
          <a:p>
            <a:pPr>
              <a:spcAft>
                <a:spcPts val="1200"/>
              </a:spcAft>
              <a:defRPr sz="1800"/>
            </a:pPr>
            <a:r>
              <a:t>│ MLP                 │  0.59   │  0.38   │   0.89    │  0.98  │ 0.93 │</a:t>
            </a:r>
          </a:p>
          <a:p>
            <a:pPr>
              <a:spcAft>
                <a:spcPts val="1200"/>
              </a:spcAft>
              <a:defRPr sz="1800"/>
            </a:pPr>
            <a:r>
              <a:t>├─────────────────────┼─────────┼─────────┼───────────┼────────┼──────┤</a:t>
            </a:r>
          </a:p>
          <a:p>
            <a:pPr>
              <a:spcAft>
                <a:spcPts val="1200"/>
              </a:spcAft>
              <a:defRPr sz="1800"/>
            </a:pPr>
            <a:r>
              <a:t>│ XGBoost             │  0.62   │  0.42   │   0.93    │  0.40  │ 0.56 │</a:t>
            </a:r>
          </a:p>
          <a:p>
            <a:pPr>
              <a:spcAft>
                <a:spcPts val="1200"/>
              </a:spcAft>
              <a:defRPr sz="1800"/>
            </a:pPr>
            <a:r>
              <a:t>└─────────────────────┴─────────┴─────────┴───────────┴────────┴──────┘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Key Findings:</a:t>
            </a:r>
          </a:p>
          <a:p>
            <a:pPr>
              <a:spcAft>
                <a:spcPts val="1200"/>
              </a:spcAft>
              <a:defRPr sz="1800"/>
            </a:pPr>
            <a:r>
              <a:t>✓ XGBoost: Best discriminative performance (highest AUC)</a:t>
            </a:r>
          </a:p>
          <a:p>
            <a:pPr>
              <a:spcAft>
                <a:spcPts val="1200"/>
              </a:spcAft>
              <a:defRPr sz="1800"/>
            </a:pPr>
            <a:r>
              <a:t>✓ LogReg/MLP: Best balance (highest F1 score)</a:t>
            </a:r>
          </a:p>
          <a:p>
            <a:pPr>
              <a:spcAft>
                <a:spcPts val="1200"/>
              </a:spcAft>
              <a:defRPr sz="1800"/>
            </a:pPr>
            <a:r>
              <a:t>✓ Clear precision-recall trade-off across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ROC Curve Comparison</a:t>
            </a:r>
          </a:p>
        </p:txBody>
      </p:sp>
      <p:pic>
        <p:nvPicPr>
          <p:cNvPr id="3" name="Picture 2" descr="models_comparison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5334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XGBoost achieves the highest ROC AUC (0.62), demonstrating superior discriminative 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Top Predictive Features</a:t>
            </a:r>
          </a:p>
        </p:txBody>
      </p:sp>
      <p:pic>
        <p:nvPicPr>
          <p:cNvPr id="3" name="Picture 2" descr="logreg_top30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3657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Logistic regression coefficients reveal key risk factors for readmission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Key Insights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1. Model Trade-offs:</a:t>
            </a:r>
          </a:p>
          <a:p>
            <a:pPr>
              <a:spcAft>
                <a:spcPts val="1200"/>
              </a:spcAft>
              <a:defRPr sz="1800"/>
            </a:pPr>
            <a:r>
              <a:t>   • XGBoost excels at identifying high-risk patients (high precision)</a:t>
            </a:r>
          </a:p>
          <a:p>
            <a:pPr>
              <a:spcAft>
                <a:spcPts val="1200"/>
              </a:spcAft>
              <a:defRPr sz="1800"/>
            </a:pPr>
            <a:r>
              <a:t>   • MLP/LogReg better at not missing at-risk patients (high recall)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2. Feature Insights:</a:t>
            </a:r>
          </a:p>
          <a:p>
            <a:pPr>
              <a:spcAft>
                <a:spcPts val="1200"/>
              </a:spcAft>
              <a:defRPr sz="1800"/>
            </a:pPr>
            <a:r>
              <a:t>   • Number of prior visits strongly predictive</a:t>
            </a:r>
          </a:p>
          <a:p>
            <a:pPr>
              <a:spcAft>
                <a:spcPts val="1200"/>
              </a:spcAft>
              <a:defRPr sz="1800"/>
            </a:pPr>
            <a:r>
              <a:t>   • Medication changes indicate severity</a:t>
            </a:r>
          </a:p>
          <a:p>
            <a:pPr>
              <a:spcAft>
                <a:spcPts val="1200"/>
              </a:spcAft>
              <a:defRPr sz="1800"/>
            </a:pPr>
            <a:r>
              <a:t>   • Lab procedures correlate with complications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3. Class Imbalance Impact:</a:t>
            </a:r>
          </a:p>
          <a:p>
            <a:pPr>
              <a:spcAft>
                <a:spcPts val="1200"/>
              </a:spcAft>
              <a:defRPr sz="1800"/>
            </a:pPr>
            <a:r>
              <a:t>   • SMOTE significantly improved minority class detection</a:t>
            </a:r>
          </a:p>
          <a:p>
            <a:pPr>
              <a:spcAft>
                <a:spcPts val="1200"/>
              </a:spcAft>
              <a:defRPr sz="1800"/>
            </a:pPr>
            <a:r>
              <a:t>   • PR AUC more informative than ROC AUC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4. Clinical Implications:</a:t>
            </a:r>
          </a:p>
          <a:p>
            <a:pPr>
              <a:spcAft>
                <a:spcPts val="1200"/>
              </a:spcAft>
              <a:defRPr sz="1800"/>
            </a:pPr>
            <a:r>
              <a:t>   • Model choice depends on intervention cost vs. missed case cost</a:t>
            </a:r>
          </a:p>
          <a:p>
            <a:pPr>
              <a:spcAft>
                <a:spcPts val="1200"/>
              </a:spcAft>
              <a:defRPr sz="1800"/>
            </a:pPr>
            <a:r>
              <a:t>   • Interpretable features enable clinician trust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Model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🔍 Logistic Regression</a:t>
            </a:r>
          </a:p>
          <a:p>
            <a:pPr>
              <a:spcAft>
                <a:spcPts val="800"/>
              </a:spcAft>
              <a:defRPr sz="1600"/>
            </a:pPr>
            <a:r>
              <a:t>Strengths:</a:t>
            </a:r>
          </a:p>
          <a:p>
            <a:pPr>
              <a:spcAft>
                <a:spcPts val="800"/>
              </a:spcAft>
              <a:defRPr sz="1600"/>
            </a:pPr>
            <a:r>
              <a:t>• Direct coefficient interpretation</a:t>
            </a:r>
          </a:p>
          <a:p>
            <a:pPr>
              <a:spcAft>
                <a:spcPts val="800"/>
              </a:spcAft>
              <a:defRPr sz="1600"/>
            </a:pPr>
            <a:r>
              <a:t>• Clinician-friendly explanations</a:t>
            </a:r>
          </a:p>
          <a:p>
            <a:pPr>
              <a:spcAft>
                <a:spcPts val="800"/>
              </a:spcAft>
              <a:defRPr sz="1600"/>
            </a:pPr>
            <a:r>
              <a:t>• Fast inference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Limitations:</a:t>
            </a:r>
          </a:p>
          <a:p>
            <a:pPr>
              <a:spcAft>
                <a:spcPts val="800"/>
              </a:spcAft>
              <a:defRPr sz="1600"/>
            </a:pPr>
            <a:r>
              <a:t>• Assumes linear relationships</a:t>
            </a:r>
          </a:p>
          <a:p>
            <a:pPr>
              <a:spcAft>
                <a:spcPts val="800"/>
              </a:spcAft>
              <a:defRPr sz="1600"/>
            </a:pPr>
            <a:r>
              <a:t>• May miss complex interactions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🧠 Neural Network (MLP)</a:t>
            </a:r>
          </a:p>
          <a:p>
            <a:pPr>
              <a:spcAft>
                <a:spcPts val="800"/>
              </a:spcAft>
              <a:defRPr sz="1600"/>
            </a:pPr>
            <a:r>
              <a:t>Strengths:</a:t>
            </a:r>
          </a:p>
          <a:p>
            <a:pPr>
              <a:spcAft>
                <a:spcPts val="800"/>
              </a:spcAft>
              <a:defRPr sz="1600"/>
            </a:pPr>
            <a:r>
              <a:t>• Captures nonlinear patterns</a:t>
            </a:r>
          </a:p>
          <a:p>
            <a:pPr>
              <a:spcAft>
                <a:spcPts val="800"/>
              </a:spcAft>
              <a:defRPr sz="1600"/>
            </a:pPr>
            <a:r>
              <a:t>• Flexible architecture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Limitations:</a:t>
            </a:r>
          </a:p>
          <a:p>
            <a:pPr>
              <a:spcAft>
                <a:spcPts val="800"/>
              </a:spcAft>
              <a:defRPr sz="1600"/>
            </a:pPr>
            <a:r>
              <a:t>• "Black box" nature</a:t>
            </a:r>
          </a:p>
          <a:p>
            <a:pPr>
              <a:spcAft>
                <a:spcPts val="800"/>
              </a:spcAft>
              <a:defRPr sz="1600"/>
            </a:pPr>
            <a:r>
              <a:t>• Requires more data</a:t>
            </a:r>
          </a:p>
          <a:p>
            <a:pPr>
              <a:spcAft>
                <a:spcPts val="800"/>
              </a:spcAft>
              <a:defRPr sz="1600"/>
            </a:pPr>
            <a:r>
              <a:t>• Longer training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🌳 XGBoost</a:t>
            </a:r>
          </a:p>
          <a:p>
            <a:pPr>
              <a:spcAft>
                <a:spcPts val="800"/>
              </a:spcAft>
              <a:defRPr sz="1600"/>
            </a:pPr>
            <a:r>
              <a:t>Strengths:</a:t>
            </a:r>
          </a:p>
          <a:p>
            <a:pPr>
              <a:spcAft>
                <a:spcPts val="800"/>
              </a:spcAft>
              <a:defRPr sz="1600"/>
            </a:pPr>
            <a:r>
              <a:t>• Excellent predictive performance</a:t>
            </a:r>
          </a:p>
          <a:p>
            <a:pPr>
              <a:spcAft>
                <a:spcPts val="800"/>
              </a:spcAft>
              <a:defRPr sz="1600"/>
            </a:pPr>
            <a:r>
              <a:t>• Feature importance built-in</a:t>
            </a:r>
          </a:p>
          <a:p>
            <a:pPr>
              <a:spcAft>
                <a:spcPts val="800"/>
              </a:spcAft>
              <a:defRPr sz="1600"/>
            </a:pPr>
            <a:r>
              <a:t>• Handles missing data</a:t>
            </a:r>
          </a:p>
          <a:p>
            <a:pPr>
              <a:spcAft>
                <a:spcPts val="800"/>
              </a:spcAft>
              <a:defRPr sz="1600"/>
            </a:pPr>
            <a:r>
              <a:t>• Robust to outliers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Limitations:</a:t>
            </a:r>
          </a:p>
          <a:p>
            <a:pPr>
              <a:spcAft>
                <a:spcPts val="800"/>
              </a:spcAft>
              <a:defRPr sz="1600"/>
            </a:pPr>
            <a:r>
              <a:t>• Less interpretable than LogReg</a:t>
            </a:r>
          </a:p>
          <a:p>
            <a:pPr>
              <a:spcAft>
                <a:spcPts val="800"/>
              </a:spcAft>
              <a:defRPr sz="1600"/>
            </a:pPr>
            <a:r>
              <a:t>• More hyperparameters to tune</a:t>
            </a:r>
          </a:p>
          <a:p>
            <a:pPr>
              <a:spcAft>
                <a:spcPts val="800"/>
              </a:spcAft>
              <a:defRPr sz="1600"/>
            </a:pPr>
            <a:r>
              <a:t>• Computationally intensive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💡 Recommendation:</a:t>
            </a:r>
          </a:p>
          <a:p>
            <a:pPr>
              <a:spcAft>
                <a:spcPts val="800"/>
              </a:spcAft>
              <a:defRPr sz="1600"/>
            </a:pPr>
            <a:r>
              <a:t>• Use XGBoost for prediction</a:t>
            </a:r>
          </a:p>
          <a:p>
            <a:pPr>
              <a:spcAft>
                <a:spcPts val="800"/>
              </a:spcAft>
              <a:defRPr sz="1600"/>
            </a:pPr>
            <a:r>
              <a:t>• Use LogReg for interpretation</a:t>
            </a:r>
          </a:p>
          <a:p>
            <a:pPr>
              <a:spcAft>
                <a:spcPts val="800"/>
              </a:spcAft>
              <a:defRPr sz="1600"/>
            </a:pPr>
            <a:r>
              <a:t>• Ensemble approaches possible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Challenge 1: Severe Class Imbalance (11% positive)</a:t>
            </a:r>
          </a:p>
          <a:p>
            <a:pPr>
              <a:spcAft>
                <a:spcPts val="1200"/>
              </a:spcAft>
              <a:defRPr sz="1800"/>
            </a:pPr>
            <a:r>
              <a:t>   → Solution: SMOTE + class weighting + threshold tuning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Challenge 2: High-Dimensional Feature Space (100+ features)</a:t>
            </a:r>
          </a:p>
          <a:p>
            <a:pPr>
              <a:spcAft>
                <a:spcPts val="1200"/>
              </a:spcAft>
              <a:defRPr sz="1800"/>
            </a:pPr>
            <a:r>
              <a:t>   → Solution: Feature selection using XGBoost importance scores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Challenge 3: Missing Data</a:t>
            </a:r>
          </a:p>
          <a:p>
            <a:pPr>
              <a:spcAft>
                <a:spcPts val="1200"/>
              </a:spcAft>
              <a:defRPr sz="1800"/>
            </a:pPr>
            <a:r>
              <a:t>   → Solution: Strategic imputation + removal of sparse features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Challenge 4: Model Interpretability vs. Performance</a:t>
            </a:r>
          </a:p>
          <a:p>
            <a:pPr>
              <a:spcAft>
                <a:spcPts val="1200"/>
              </a:spcAft>
              <a:defRPr sz="1800"/>
            </a:pPr>
            <a:r>
              <a:t>   → Solution: Compare multiple model paradigms, document trade-offs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Challenge 5: Evaluation Metric Selection</a:t>
            </a:r>
          </a:p>
          <a:p>
            <a:pPr>
              <a:spcAft>
                <a:spcPts val="1200"/>
              </a:spcAft>
              <a:defRPr sz="1800"/>
            </a:pPr>
            <a:r>
              <a:t>   → Solution: Report multiple metrics (ROC AUC, PR AUC, F1)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Future Work &amp;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1. Temporal Modeling</a:t>
            </a:r>
          </a:p>
          <a:p>
            <a:pPr>
              <a:spcAft>
                <a:spcPts val="1200"/>
              </a:spcAft>
              <a:defRPr sz="1800"/>
            </a:pPr>
            <a:r>
              <a:t>   • RNNs/LSTMs for sequential patient histories</a:t>
            </a:r>
          </a:p>
          <a:p>
            <a:pPr>
              <a:spcAft>
                <a:spcPts val="1200"/>
              </a:spcAft>
              <a:defRPr sz="1800"/>
            </a:pPr>
            <a:r>
              <a:t>   • Capture temporal patterns in readmission risk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2. Advanced Techniques</a:t>
            </a:r>
          </a:p>
          <a:p>
            <a:pPr>
              <a:spcAft>
                <a:spcPts val="1200"/>
              </a:spcAft>
              <a:defRPr sz="1800"/>
            </a:pPr>
            <a:r>
              <a:t>   • Deep learning: Transformers for EHR data</a:t>
            </a:r>
          </a:p>
          <a:p>
            <a:pPr>
              <a:spcAft>
                <a:spcPts val="1200"/>
              </a:spcAft>
              <a:defRPr sz="1800"/>
            </a:pPr>
            <a:r>
              <a:t>   • Ensemble methods: Stack multiple models</a:t>
            </a:r>
          </a:p>
          <a:p>
            <a:pPr>
              <a:spcAft>
                <a:spcPts val="1200"/>
              </a:spcAft>
              <a:defRPr sz="1800"/>
            </a:pPr>
            <a:r>
              <a:t>   • Calibration: Platt scaling, isotonic regression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3. Causal Analysis</a:t>
            </a:r>
          </a:p>
          <a:p>
            <a:pPr>
              <a:spcAft>
                <a:spcPts val="1200"/>
              </a:spcAft>
              <a:defRPr sz="1800"/>
            </a:pPr>
            <a:r>
              <a:t>   • Move beyond correlation to causation</a:t>
            </a:r>
          </a:p>
          <a:p>
            <a:pPr>
              <a:spcAft>
                <a:spcPts val="1200"/>
              </a:spcAft>
              <a:defRPr sz="1800"/>
            </a:pPr>
            <a:r>
              <a:t>   • Propensity score matching, instrumental variables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4. Deployment Considerations</a:t>
            </a:r>
          </a:p>
          <a:p>
            <a:pPr>
              <a:spcAft>
                <a:spcPts val="1200"/>
              </a:spcAft>
              <a:defRPr sz="1800"/>
            </a:pPr>
            <a:r>
              <a:t>   • Fairness across demographic groups</a:t>
            </a:r>
          </a:p>
          <a:p>
            <a:pPr>
              <a:spcAft>
                <a:spcPts val="1200"/>
              </a:spcAft>
              <a:defRPr sz="1800"/>
            </a:pPr>
            <a:r>
              <a:t>   • Real-time prediction API</a:t>
            </a:r>
          </a:p>
          <a:p>
            <a:pPr>
              <a:spcAft>
                <a:spcPts val="1200"/>
              </a:spcAft>
              <a:defRPr sz="1800"/>
            </a:pPr>
            <a:r>
              <a:t>   • Integration with hospital EHR systems</a:t>
            </a:r>
          </a:p>
          <a:p>
            <a:pPr>
              <a:spcAft>
                <a:spcPts val="1200"/>
              </a:spcAft>
              <a:defRPr sz="1800"/>
            </a:pPr>
            <a:r>
              <a:t>   • Continuous model monitoring and retraining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Technical Stack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🐍 Programming:</a:t>
            </a:r>
          </a:p>
          <a:p>
            <a:pPr>
              <a:spcAft>
                <a:spcPts val="800"/>
              </a:spcAft>
              <a:defRPr sz="1600"/>
            </a:pPr>
            <a:r>
              <a:t>• Python 3.8+</a:t>
            </a:r>
          </a:p>
          <a:p>
            <a:pPr>
              <a:spcAft>
                <a:spcPts val="800"/>
              </a:spcAft>
              <a:defRPr sz="1600"/>
            </a:pPr>
            <a:r>
              <a:t>• Jupyter Notebooks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📚 ML Libraries:</a:t>
            </a:r>
          </a:p>
          <a:p>
            <a:pPr>
              <a:spcAft>
                <a:spcPts val="800"/>
              </a:spcAft>
              <a:defRPr sz="1600"/>
            </a:pPr>
            <a:r>
              <a:t>• scikit-learn</a:t>
            </a:r>
          </a:p>
          <a:p>
            <a:pPr>
              <a:spcAft>
                <a:spcPts val="800"/>
              </a:spcAft>
              <a:defRPr sz="1600"/>
            </a:pPr>
            <a:r>
              <a:t>• XGBoost</a:t>
            </a:r>
          </a:p>
          <a:p>
            <a:pPr>
              <a:spcAft>
                <a:spcPts val="800"/>
              </a:spcAft>
              <a:defRPr sz="1600"/>
            </a:pPr>
            <a:r>
              <a:t>• imbalanced-learn (SMOTE)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📊 Data Processing:</a:t>
            </a:r>
          </a:p>
          <a:p>
            <a:pPr>
              <a:spcAft>
                <a:spcPts val="800"/>
              </a:spcAft>
              <a:defRPr sz="1600"/>
            </a:pPr>
            <a:r>
              <a:t>• pandas</a:t>
            </a:r>
          </a:p>
          <a:p>
            <a:pPr>
              <a:spcAft>
                <a:spcPts val="800"/>
              </a:spcAft>
              <a:defRPr sz="1600"/>
            </a:pPr>
            <a:r>
              <a:t>• NumPy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📈 Visualization:</a:t>
            </a:r>
          </a:p>
          <a:p>
            <a:pPr>
              <a:spcAft>
                <a:spcPts val="800"/>
              </a:spcAft>
              <a:defRPr sz="1600"/>
            </a:pPr>
            <a:r>
              <a:t>• matplotlib</a:t>
            </a:r>
          </a:p>
          <a:p>
            <a:pPr>
              <a:spcAft>
                <a:spcPts val="800"/>
              </a:spcAft>
              <a:defRPr sz="1600"/>
            </a:pPr>
            <a:r>
              <a:t>• seaborn</a:t>
            </a:r>
          </a:p>
          <a:p>
            <a:pPr>
              <a:spcAft>
                <a:spcPts val="800"/>
              </a:spcAft>
              <a:defRPr sz="1600"/>
            </a:pPr>
            <a:r>
              <a:t>• plotly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🗂️ Project Structure:</a:t>
            </a:r>
          </a:p>
          <a:p>
            <a:pPr>
              <a:spcAft>
                <a:spcPts val="800"/>
              </a:spcAft>
              <a:defRPr sz="1600"/>
            </a:pPr>
            <a:r>
              <a:t>• Modular pipeline design</a:t>
            </a:r>
          </a:p>
          <a:p>
            <a:pPr>
              <a:spcAft>
                <a:spcPts val="800"/>
              </a:spcAft>
              <a:defRPr sz="1600"/>
            </a:pPr>
            <a:r>
              <a:t>• Separate scripts for each stage</a:t>
            </a:r>
          </a:p>
          <a:p>
            <a:pPr>
              <a:spcAft>
                <a:spcPts val="800"/>
              </a:spcAft>
              <a:defRPr sz="1600"/>
            </a:pPr>
            <a:r>
              <a:t>• Reproducible workflows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💾 Model Persistence:</a:t>
            </a:r>
          </a:p>
          <a:p>
            <a:pPr>
              <a:spcAft>
                <a:spcPts val="800"/>
              </a:spcAft>
              <a:defRPr sz="1600"/>
            </a:pPr>
            <a:r>
              <a:t>• Pickle files for trained models</a:t>
            </a:r>
          </a:p>
          <a:p>
            <a:pPr>
              <a:spcAft>
                <a:spcPts val="800"/>
              </a:spcAft>
              <a:defRPr sz="1600"/>
            </a:pPr>
            <a:r>
              <a:t>• Saved preprocessors &amp; scalers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📝 Documentation:</a:t>
            </a:r>
          </a:p>
          <a:p>
            <a:pPr>
              <a:spcAft>
                <a:spcPts val="800"/>
              </a:spcAft>
              <a:defRPr sz="1600"/>
            </a:pPr>
            <a:r>
              <a:t>• README with setup instructions</a:t>
            </a:r>
          </a:p>
          <a:p>
            <a:pPr>
              <a:spcAft>
                <a:spcPts val="800"/>
              </a:spcAft>
              <a:defRPr sz="1600"/>
            </a:pPr>
            <a:r>
              <a:t>• Code comments &amp; docstrings</a:t>
            </a:r>
          </a:p>
          <a:p>
            <a:pPr>
              <a:spcAft>
                <a:spcPts val="800"/>
              </a:spcAft>
              <a:defRPr sz="1600"/>
            </a:pPr>
            <a:r>
              <a:t>• Project website (GitHub Pages)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🔧 Version Control:</a:t>
            </a:r>
          </a:p>
          <a:p>
            <a:pPr>
              <a:spcAft>
                <a:spcPts val="800"/>
              </a:spcAft>
              <a:defRPr sz="1600"/>
            </a:pPr>
            <a:r>
              <a:t>• Git + GitHub</a:t>
            </a:r>
          </a:p>
          <a:p>
            <a:pPr>
              <a:spcAft>
                <a:spcPts val="800"/>
              </a:spcAft>
              <a:defRPr sz="1600"/>
            </a:pPr>
            <a:r>
              <a:t>• Clear commit history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Reproducibility &amp; Open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✅ Complete Pipeline Available:</a:t>
            </a:r>
          </a:p>
          <a:p>
            <a:pPr>
              <a:spcAft>
                <a:spcPts val="1200"/>
              </a:spcAft>
              <a:defRPr sz="1800"/>
            </a:pPr>
            <a:r>
              <a:t>   • All code on GitHub: github.com/arrdel/patient-readmission-prediction</a:t>
            </a:r>
          </a:p>
          <a:p>
            <a:pPr>
              <a:spcAft>
                <a:spcPts val="1200"/>
              </a:spcAft>
              <a:defRPr sz="1800"/>
            </a:pPr>
            <a:r>
              <a:t>   • requirements.txt for dependencies</a:t>
            </a:r>
          </a:p>
          <a:p>
            <a:pPr>
              <a:spcAft>
                <a:spcPts val="1200"/>
              </a:spcAft>
              <a:defRPr sz="1800"/>
            </a:pPr>
            <a:r>
              <a:t>   • Step-by-step execution instructions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✅ Dataset Accessibility:</a:t>
            </a:r>
          </a:p>
          <a:p>
            <a:pPr>
              <a:spcAft>
                <a:spcPts val="1200"/>
              </a:spcAft>
              <a:defRPr sz="1800"/>
            </a:pPr>
            <a:r>
              <a:t>   • Public UCI ML Repository dataset</a:t>
            </a:r>
          </a:p>
          <a:p>
            <a:pPr>
              <a:spcAft>
                <a:spcPts val="1200"/>
              </a:spcAft>
              <a:defRPr sz="1800"/>
            </a:pPr>
            <a:r>
              <a:t>   • Clear data provenance documentation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✅ Experiment Tracking:</a:t>
            </a:r>
          </a:p>
          <a:p>
            <a:pPr>
              <a:spcAft>
                <a:spcPts val="1200"/>
              </a:spcAft>
              <a:defRPr sz="1800"/>
            </a:pPr>
            <a:r>
              <a:t>   • Saved model checkpoints</a:t>
            </a:r>
          </a:p>
          <a:p>
            <a:pPr>
              <a:spcAft>
                <a:spcPts val="1200"/>
              </a:spcAft>
              <a:defRPr sz="1800"/>
            </a:pPr>
            <a:r>
              <a:t>   • Performance metrics logged</a:t>
            </a:r>
          </a:p>
          <a:p>
            <a:pPr>
              <a:spcAft>
                <a:spcPts val="1200"/>
              </a:spcAft>
              <a:defRPr sz="1800"/>
            </a:pPr>
            <a:r>
              <a:t>   • Visualizations for all experiments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✅ Documentation:</a:t>
            </a:r>
          </a:p>
          <a:p>
            <a:pPr>
              <a:spcAft>
                <a:spcPts val="1200"/>
              </a:spcAft>
              <a:defRPr sz="1800"/>
            </a:pPr>
            <a:r>
              <a:t>   • Comprehensive README</a:t>
            </a:r>
          </a:p>
          <a:p>
            <a:pPr>
              <a:spcAft>
                <a:spcPts val="1200"/>
              </a:spcAft>
              <a:defRPr sz="1800"/>
            </a:pPr>
            <a:r>
              <a:t>   • Project website with interactive results</a:t>
            </a:r>
          </a:p>
          <a:p>
            <a:pPr>
              <a:spcAft>
                <a:spcPts val="1200"/>
              </a:spcAft>
              <a:defRPr sz="1800"/>
            </a:pPr>
            <a:r>
              <a:t>   • Technical report with methodology details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1. Domain Knowledge Matters</a:t>
            </a:r>
          </a:p>
          <a:p>
            <a:pPr>
              <a:spcAft>
                <a:spcPts val="1200"/>
              </a:spcAft>
              <a:defRPr sz="1800"/>
            </a:pPr>
            <a:r>
              <a:t>   • Understanding healthcare context crucial for feature engineering</a:t>
            </a:r>
          </a:p>
          <a:p>
            <a:pPr>
              <a:spcAft>
                <a:spcPts val="1200"/>
              </a:spcAft>
              <a:defRPr sz="1800"/>
            </a:pPr>
            <a:r>
              <a:t>   • Clinical input would improve model utility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2. Evaluation is Non-Trivial</a:t>
            </a:r>
          </a:p>
          <a:p>
            <a:pPr>
              <a:spcAft>
                <a:spcPts val="1200"/>
              </a:spcAft>
              <a:defRPr sz="1800"/>
            </a:pPr>
            <a:r>
              <a:t>   • Single metric insufficient for imbalanced problems</a:t>
            </a:r>
          </a:p>
          <a:p>
            <a:pPr>
              <a:spcAft>
                <a:spcPts val="1200"/>
              </a:spcAft>
              <a:defRPr sz="1800"/>
            </a:pPr>
            <a:r>
              <a:t>   • Threshold selection depends on deployment context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3. Interpretability is Valuable</a:t>
            </a:r>
          </a:p>
          <a:p>
            <a:pPr>
              <a:spcAft>
                <a:spcPts val="1200"/>
              </a:spcAft>
              <a:defRPr sz="1800"/>
            </a:pPr>
            <a:r>
              <a:t>   • Black-box models may perform better but harder to trust</a:t>
            </a:r>
          </a:p>
          <a:p>
            <a:pPr>
              <a:spcAft>
                <a:spcPts val="1200"/>
              </a:spcAft>
              <a:defRPr sz="1800"/>
            </a:pPr>
            <a:r>
              <a:t>   • Simpler models often "good enough" and more deployable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4. Data Quality &gt; Fancy Algorithms</a:t>
            </a:r>
          </a:p>
          <a:p>
            <a:pPr>
              <a:spcAft>
                <a:spcPts val="1200"/>
              </a:spcAft>
              <a:defRPr sz="1800"/>
            </a:pPr>
            <a:r>
              <a:t>   • Feature engineering had major impact</a:t>
            </a:r>
          </a:p>
          <a:p>
            <a:pPr>
              <a:spcAft>
                <a:spcPts val="1200"/>
              </a:spcAft>
              <a:defRPr sz="1800"/>
            </a:pPr>
            <a:r>
              <a:t>   • Garbage in, garbage out principle holds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5. Reproducibility Requires Effort</a:t>
            </a:r>
          </a:p>
          <a:p>
            <a:pPr>
              <a:spcAft>
                <a:spcPts val="1200"/>
              </a:spcAft>
              <a:defRPr sz="1800"/>
            </a:pPr>
            <a:r>
              <a:t>   • Documentation and organization take time but pay dividends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✓ Successfully built end-to-end ML pipeline for readmission prediction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✓ Compared three distinct modeling paradigms:</a:t>
            </a:r>
          </a:p>
          <a:p>
            <a:pPr>
              <a:spcAft>
                <a:spcPts val="1200"/>
              </a:spcAft>
              <a:defRPr sz="1800"/>
            </a:pPr>
            <a:r>
              <a:t>   • Logistic Regression: Most interpretable</a:t>
            </a:r>
          </a:p>
          <a:p>
            <a:pPr>
              <a:spcAft>
                <a:spcPts val="1200"/>
              </a:spcAft>
              <a:defRPr sz="1800"/>
            </a:pPr>
            <a:r>
              <a:t>   • MLP: Good balance of performance and complexity</a:t>
            </a:r>
          </a:p>
          <a:p>
            <a:pPr>
              <a:spcAft>
                <a:spcPts val="1200"/>
              </a:spcAft>
              <a:defRPr sz="1800"/>
            </a:pPr>
            <a:r>
              <a:t>   • XGBoost: Best discriminative performance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✓ Demonstrated effective handling of class imbalance via SMOTE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✓ Identified key predictive features with clinical relevance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✓ Highlighted practical trade-offs in model selection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✓ Created fully reproducible, well-documented codebase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➡️ Ready for further research and potential deployment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References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Dataset:</a:t>
            </a:r>
          </a:p>
          <a:p>
            <a:pPr>
              <a:spcAft>
                <a:spcPts val="1200"/>
              </a:spcAft>
              <a:defRPr sz="1800"/>
            </a:pPr>
            <a:r>
              <a:t>• Strack et al. (2014). UCI Diabetes 130-US Hospitals Dataset</a:t>
            </a:r>
          </a:p>
          <a:p>
            <a:pPr>
              <a:spcAft>
                <a:spcPts val="1200"/>
              </a:spcAft>
              <a:defRPr sz="1800"/>
            </a:pPr>
            <a:r>
              <a:t>  archive.ics.uci.edu/dataset/296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Methods:</a:t>
            </a:r>
          </a:p>
          <a:p>
            <a:pPr>
              <a:spcAft>
                <a:spcPts val="1200"/>
              </a:spcAft>
              <a:defRPr sz="1800"/>
            </a:pPr>
            <a:r>
              <a:t>• Chawla et al. (2002). SMOTE: Synthetic Minority Over-sampling Technique</a:t>
            </a:r>
          </a:p>
          <a:p>
            <a:pPr>
              <a:spcAft>
                <a:spcPts val="1200"/>
              </a:spcAft>
              <a:defRPr sz="1800"/>
            </a:pPr>
            <a:r>
              <a:t>• Chen &amp; Guestrin (2016). XGBoost: A Scalable Tree Boosting System</a:t>
            </a:r>
          </a:p>
          <a:p>
            <a:pPr>
              <a:spcAft>
                <a:spcPts val="1200"/>
              </a:spcAft>
              <a:defRPr sz="1800"/>
            </a:pPr>
            <a:r>
              <a:t>• Pedregosa et al. (2011). Scikit-learn: Machine Learning in Python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Project Resources:</a:t>
            </a:r>
          </a:p>
          <a:p>
            <a:pPr>
              <a:spcAft>
                <a:spcPts val="1200"/>
              </a:spcAft>
              <a:defRPr sz="1800"/>
            </a:pPr>
            <a:r>
              <a:t>• Code: github.com/arrdel/patient-readmission-prediction</a:t>
            </a:r>
          </a:p>
          <a:p>
            <a:pPr>
              <a:spcAft>
                <a:spcPts val="1200"/>
              </a:spcAft>
              <a:defRPr sz="1800"/>
            </a:pPr>
            <a:r>
              <a:t>• Website: [GitHub Pages URL]</a:t>
            </a:r>
          </a:p>
          <a:p>
            <a:pPr>
              <a:spcAft>
                <a:spcPts val="1200"/>
              </a:spcAft>
              <a:defRPr sz="1800"/>
            </a:pPr>
            <a:r>
              <a:t>• Report: See repository docs/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Contact:</a:t>
            </a:r>
          </a:p>
          <a:p>
            <a:pPr>
              <a:spcAft>
                <a:spcPts val="1200"/>
              </a:spcAft>
              <a:defRPr sz="1800"/>
            </a:pPr>
            <a:r>
              <a:t>• Adele Chinda, Oumar Diallo, Yusuf Mumin</a:t>
            </a:r>
          </a:p>
          <a:p>
            <a:pPr>
              <a:spcAft>
                <a:spcPts val="1200"/>
              </a:spcAft>
              <a:defRPr sz="1800"/>
            </a:pPr>
            <a:r>
              <a:t>• Georgia State University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Project Repository:</a:t>
            </a:r>
          </a:p>
          <a:p>
            <a:r>
              <a:t>github.com/arrdel/patient-readmission-prediction</a:t>
            </a:r>
          </a:p>
          <a:p/>
          <a:p>
            <a:r>
              <a:t>Adele Chinda • Oumar Diallo • Yusuf Mumin</a:t>
            </a:r>
          </a:p>
          <a:p>
            <a:r>
              <a:t>Georgia State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